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A15C55-8517-42AA-B614-E9B94910E393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  <a:fill>
          <a:solidFill>
            <a:schemeClr val="accent4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20" y="4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4951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0893189" name="Дата 2"/>
          <p:cNvSpPr>
            <a:spLocks noGrp="1"/>
          </p:cNvSpPr>
          <p:nvPr>
            <p:ph type="dt" idx="1"/>
          </p:nvPr>
        </p:nvSpPr>
        <p:spPr bwMode="auto"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7EC8850-4F7C-4F32-A428-B45380D9B717}" type="datetimeFigureOut">
              <a:rPr lang="ru-RU"/>
              <a:t>22.10.2026</a:t>
            </a:fld>
            <a:endParaRPr lang="ru-RU"/>
          </a:p>
        </p:txBody>
      </p:sp>
      <p:sp>
        <p:nvSpPr>
          <p:cNvPr id="711602482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182425553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1219200" y="3300413"/>
            <a:ext cx="9753600" cy="270033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3563620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49318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987F60A-D650-4C24-A25C-12FAA49429E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620510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7456721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8048330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987F60A-D650-4C24-A25C-12FAA49429E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2868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96339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24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1E1F26-E639-2348-605A-35A2D7BAF93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672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9640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775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A5592-56A9-C573-E307-1F60B249F4A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0404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80946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139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F84BA-1097-435F-B02D-009F3DBBD7A4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1626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9691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279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85F453-E7EF-8426-E65F-71B53257F5A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5480C0-6887-D180-768E-5EADABB03266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6126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4828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093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AE4512-B896-0621-C821-2E376571C22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878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51425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757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DFFE2-1FCA-1813-408C-F4FC498FA5E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4742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4622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286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73636-D3AD-72AA-3A60-D5D71656C5D0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511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6463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49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917D2-E077-F5D7-DEF6-B3DFB1B46A9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22113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5466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708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044834-3389-E9B8-CA47-6C37D7291992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792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0947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07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0465E4-8874-F6CE-0747-298F721E3E1D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5424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54327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509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8B6FAF-E860-E9AF-5E15-3A9EEB37BCA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1113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04588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360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EB372-412B-1505-B6C2-841C08A068F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58498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0036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478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4D3D27-1570-F172-0A6F-4986EA970D3D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837346" name="Holder 2"/>
          <p:cNvSpPr>
            <a:spLocks noGrp="1"/>
          </p:cNvSpPr>
          <p:nvPr>
            <p:ph type="ctrTitle"/>
          </p:nvPr>
        </p:nvSpPr>
        <p:spPr bwMode="auto"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7070418" name="Holder 3"/>
          <p:cNvSpPr>
            <a:spLocks noGrp="1"/>
          </p:cNvSpPr>
          <p:nvPr>
            <p:ph type="subTitle" idx="4"/>
          </p:nvPr>
        </p:nvSpPr>
        <p:spPr bwMode="auto"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74221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1797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53939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20096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0379019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47210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23899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113437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36854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23391561" name="bg object 17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3718089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5357398" name="Holder 3"/>
          <p:cNvSpPr>
            <a:spLocks noGrp="1"/>
          </p:cNvSpPr>
          <p:nvPr>
            <p:ph sz="half" idx="2"/>
          </p:nvPr>
        </p:nvSpPr>
        <p:spPr bwMode="auto"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1344007" name="Holder 4"/>
          <p:cNvSpPr>
            <a:spLocks noGrp="1"/>
          </p:cNvSpPr>
          <p:nvPr>
            <p:ph sz="half" idx="3"/>
          </p:nvPr>
        </p:nvSpPr>
        <p:spPr bwMode="auto"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1119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466228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1490765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93199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798919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35129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15786725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00084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5582710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66550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11412586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4094229" name="bg object 16"/>
          <p:cNvPicPr/>
          <p:nvPr/>
        </p:nvPicPr>
        <p:blipFill rotWithShape="1">
          <a:blip r:embed="rId7"/>
          <a:stretch/>
        </p:blipFill>
        <p:spPr bwMode="auto"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37305416" name="Holder 2"/>
          <p:cNvSpPr>
            <a:spLocks noGrp="1"/>
          </p:cNvSpPr>
          <p:nvPr>
            <p:ph type="title"/>
          </p:nvPr>
        </p:nvSpPr>
        <p:spPr bwMode="auto"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5361368" name="Holder 3"/>
          <p:cNvSpPr>
            <a:spLocks noGrp="1"/>
          </p:cNvSpPr>
          <p:nvPr>
            <p:ph type="body" idx="1"/>
          </p:nvPr>
        </p:nvSpPr>
        <p:spPr bwMode="auto"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2183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578760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20498512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‹#›</a:t>
            </a:fld>
            <a:endParaRPr spc="-5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838020" name="object 2"/>
          <p:cNvSpPr/>
          <p:nvPr/>
        </p:nvSpPr>
        <p:spPr bwMode="auto">
          <a:xfrm>
            <a:off x="5390296" y="511962"/>
            <a:ext cx="1520825" cy="551558"/>
          </a:xfrm>
          <a:custGeom>
            <a:avLst/>
            <a:gdLst/>
            <a:ahLst/>
            <a:cxnLst/>
            <a:rect l="l" t="t" r="r" b="b"/>
            <a:pathLst>
              <a:path w="5154295" h="1972945" extrusionOk="0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w="5154295" h="1972945" extrusionOk="0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w="5154295" h="1972945" extrusionOk="0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w="5154295" h="1972945" extrusionOk="0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w="5154295" h="1972945" extrusionOk="0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w="5154295" h="1972945" extrusionOk="0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w="5154295" h="1972945" extrusionOk="0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w="5154295" h="1972945" extrusionOk="0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w="5154295" h="1972945" extrusionOk="0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w="5154295" h="1972945" extrusionOk="0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w="5154295" h="1972945" extrusionOk="0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w="5154295" h="1972945" extrusionOk="0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w="5154295" h="1972945" extrusionOk="0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w="5154295" h="1972945" extrusionOk="0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w="5154295" h="1972945" extrusionOk="0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w="5154295" h="1972945" extrusionOk="0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w="5154295" h="1972945" extrusionOk="0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w="5154295" h="1972945" extrusionOk="0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w="5154295" h="1972945" extrusionOk="0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w="5154295" h="1972945" extrusionOk="0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w="5154295" h="1972945" extrusionOk="0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w="5154295" h="1972945" extrusionOk="0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w="5154295" h="1972945" extrusionOk="0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w="5154295" h="1972945" extrusionOk="0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w="5154295" h="1972945" extrusionOk="0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w="5154295" h="1972945" extrusionOk="0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w="5154295" h="1972945" extrusionOk="0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w="5154295" h="1972945" extrusionOk="0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w="5154295" h="1972945" extrusionOk="0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w="5154295" h="1972945" extrusionOk="0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w="5154295" h="1972945" extrusionOk="0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w="5154295" h="1972945" extrusionOk="0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w="5154295" h="1972945" extrusionOk="0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w="5154295" h="1972945" extrusionOk="0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w="5154295" h="1972945" extrusionOk="0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w="5154295" h="1972945" extrusionOk="0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w="5154295" h="1972945" extrusionOk="0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w="5154295" h="1972945" extrusionOk="0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w="5154295" h="1972945" extrusionOk="0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w="5154295" h="1972945" extrusionOk="0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w="5154295" h="1972945" extrusionOk="0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w="5154295" h="1972945" extrusionOk="0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w="5154295" h="1972945" extrusionOk="0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w="5154295" h="1972945" extrusionOk="0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w="5154295" h="1972945" extrusionOk="0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w="5154295" h="1972945" extrusionOk="0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w="5154295" h="1972945" extrusionOk="0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w="5154295" h="1972945" extrusionOk="0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w="5154295" h="1972945" extrusionOk="0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w="5154295" h="1972945" extrusionOk="0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w="5154295" h="1972945" extrusionOk="0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w="5154295" h="1972945" extrusionOk="0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w="5154295" h="1972945" extrusionOk="0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w="5154295" h="1972945" extrusionOk="0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w="5154295" h="1972945" extrusionOk="0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w="5154295" h="1972945" extrusionOk="0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w="5154295" h="1972945" extrusionOk="0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w="5154295" h="1972945" extrusionOk="0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w="5154295" h="1972945" extrusionOk="0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w="5154295" h="1972945" extrusionOk="0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w="5154295" h="1972945" extrusionOk="0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w="5154295" h="1972945" extrusionOk="0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w="5154295" h="1972945" extrusionOk="0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w="5154295" h="1972945" extrusionOk="0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w="5154295" h="1972945" extrusionOk="0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w="5154295" h="1972945" extrusionOk="0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w="5154295" h="1972945" extrusionOk="0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w="5154295" h="1972945" extrusionOk="0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grpSp>
        <p:nvGrpSpPr>
          <p:cNvPr id="1342424930" name="object 3"/>
          <p:cNvGrpSpPr/>
          <p:nvPr/>
        </p:nvGrpSpPr>
        <p:grpSpPr bwMode="auto">
          <a:xfrm>
            <a:off x="642082" y="0"/>
            <a:ext cx="11604624" cy="6858000"/>
            <a:chOff x="0" y="0"/>
            <a:chExt cx="11604624" cy="6858000"/>
          </a:xfrm>
        </p:grpSpPr>
        <p:sp>
          <p:nvSpPr>
            <p:cNvPr id="4" name="object 4"/>
            <p:cNvSpPr/>
            <p:nvPr/>
          </p:nvSpPr>
          <p:spPr bwMode="auto">
            <a:xfrm>
              <a:off x="0" y="1257299"/>
              <a:ext cx="11604625" cy="0"/>
            </a:xfrm>
            <a:custGeom>
              <a:avLst/>
              <a:gdLst/>
              <a:ahLst/>
              <a:cxnLst/>
              <a:rect l="l" t="t" r="r" b="b"/>
              <a:pathLst>
                <a:path w="11604625" extrusionOk="0">
                  <a:moveTo>
                    <a:pt x="0" y="0"/>
                  </a:moveTo>
                  <a:lnTo>
                    <a:pt x="11604625" y="0"/>
                  </a:lnTo>
                </a:path>
              </a:pathLst>
            </a:custGeom>
            <a:grpFill/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11017249" y="0"/>
              <a:ext cx="12700" cy="6858000"/>
            </a:xfrm>
            <a:custGeom>
              <a:avLst/>
              <a:gdLst/>
              <a:ahLst/>
              <a:cxnLst/>
              <a:rect l="l" t="t" r="r" b="b"/>
              <a:pathLst>
                <a:path w="12700" h="6858000" extrusionOk="0">
                  <a:moveTo>
                    <a:pt x="12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700" y="6858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0185791" y="584595"/>
              <a:ext cx="635487" cy="4943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 rotWithShape="1">
            <a:blip r:embed="rId4"/>
            <a:stretch/>
          </p:blipFill>
          <p:spPr bwMode="auto">
            <a:xfrm>
              <a:off x="511592" y="679950"/>
              <a:ext cx="1466588" cy="3210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 rotWithShape="1">
            <a:blip r:embed="rId5"/>
            <a:stretch/>
          </p:blipFill>
          <p:spPr bwMode="auto">
            <a:xfrm>
              <a:off x="1320" y="605734"/>
              <a:ext cx="411488" cy="4577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 rotWithShape="1">
            <a:blip r:embed="rId6"/>
            <a:stretch/>
          </p:blipFill>
          <p:spPr bwMode="auto">
            <a:xfrm>
              <a:off x="2940076" y="682034"/>
              <a:ext cx="1475573" cy="350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 rotWithShape="1">
            <a:blip r:embed="rId7"/>
            <a:stretch/>
          </p:blipFill>
          <p:spPr bwMode="auto">
            <a:xfrm>
              <a:off x="2439710" y="631913"/>
              <a:ext cx="412240" cy="405181"/>
            </a:xfrm>
            <a:prstGeom prst="rect">
              <a:avLst/>
            </a:prstGeom>
          </p:spPr>
        </p:pic>
      </p:grpSp>
      <p:sp>
        <p:nvSpPr>
          <p:cNvPr id="580878721" name="object 18"/>
          <p:cNvSpPr txBox="1"/>
          <p:nvPr/>
        </p:nvSpPr>
        <p:spPr bwMode="auto">
          <a:xfrm>
            <a:off x="594360" y="1645920"/>
            <a:ext cx="10515600" cy="2534263"/>
          </a:xfrm>
          <a:prstGeom prst="rect">
            <a:avLst/>
          </a:prstGeom>
        </p:spPr>
        <p:txBody>
          <a:bodyPr vert="horz" wrap="square" lIns="0" tIns="53974" rIns="0" bIns="0" rtlCol="0">
            <a:spAutoFit/>
          </a:bodyPr>
          <a:lstStyle/>
          <a:p>
            <a:pPr marL="12700" marR="5080" algn="l">
              <a:lnSpc>
                <a:spcPts val="6509"/>
              </a:lnSpc>
              <a:spcBef>
                <a:spcPts val="425"/>
              </a:spcBef>
              <a:spcAft>
                <a:spcPts val="0"/>
              </a:spcAft>
              <a:defRPr/>
            </a:pPr>
            <a:r>
              <a:rPr sz="2600" b="1">
                <a:solidFill>
                  <a:srgbClr val="FFFFFF"/>
                </a:solidFill>
                <a:latin typeface="Calibri"/>
              </a:rPr>
              <a:t>«ИИдеал Авто» (AIdeal Auto) — Экспертная ИИ-система</a:t>
            </a:r>
            <a:br/>
            <a:r>
              <a:rPr sz="2600" b="1">
                <a:solidFill>
                  <a:srgbClr val="FFFFFF"/>
                </a:solidFill>
                <a:latin typeface="Calibri"/>
              </a:rPr>
              <a:t>автодиагностики и пошагового ремонта автомобиля</a:t>
            </a:r>
            <a:endParaRPr sz="4800">
              <a:solidFill>
                <a:schemeClr val="bg1">
                  <a:lumMod val="95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2081120131" name="Прямоугольник 12"/>
          <p:cNvSpPr/>
          <p:nvPr/>
        </p:nvSpPr>
        <p:spPr bwMode="auto">
          <a:xfrm>
            <a:off x="594360" y="4343400"/>
            <a:ext cx="7772400" cy="210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5"/>
              </a:spcBef>
              <a:spcAft>
                <a:spcPts val="300"/>
              </a:spcAft>
              <a:defRPr/>
            </a:pPr>
            <a:r>
              <a:rPr sz="1550" b="1">
                <a:solidFill>
                  <a:srgbClr val="FFFFFF"/>
                </a:solidFill>
                <a:latin typeface="Calibri"/>
              </a:rPr>
              <a:t>Подорожный Максим Евгеньевич</a:t>
            </a:r>
            <a:endParaRPr lang="ru-RU" sz="1800">
              <a:solidFill>
                <a:schemeClr val="bg1">
                  <a:lumMod val="95000"/>
                </a:schemeClr>
              </a:solidFill>
              <a:latin typeface="Microsoft Sans Serif"/>
              <a:cs typeface="Microsoft Sans Serif"/>
            </a:endParaRP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F1F5F9"/>
                </a:solidFill>
                <a:latin typeface="Calibri"/>
              </a:rPr>
              <a:t>Студент 4 курса направления «Программная инженерия» (гр. ПО-32б)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F1F5F9"/>
                </a:solidFill>
                <a:latin typeface="Calibri"/>
              </a:rPr>
              <a:t>ФГБОУ ВО «Юго-Западный государственный университет» (ЮЗГУ), г. Курск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FB923C"/>
                </a:solidFill>
                <a:latin typeface="Calibri"/>
              </a:rPr>
              <a:t>Контакты: maxxf05@gmail.com | Telegram: @maxxf05</a:t>
            </a:r>
          </a:p>
        </p:txBody>
      </p:sp>
      <p:pic>
        <p:nvPicPr>
          <p:cNvPr id="409269612" name="Рисунок 15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243684" y="601947"/>
            <a:ext cx="1612470" cy="494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709634" name="object 2"/>
          <p:cNvSpPr/>
          <p:nvPr/>
        </p:nvSpPr>
        <p:spPr bwMode="auto">
          <a:xfrm>
            <a:off x="625475" y="584200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 extrusionOk="0">
                <a:moveTo>
                  <a:pt x="0" y="0"/>
                </a:moveTo>
                <a:lnTo>
                  <a:pt x="0" y="936625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272834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62000" y="517579"/>
            <a:ext cx="10050780" cy="77777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6190"/>
              </a:lnSpc>
              <a:spcBef>
                <a:spcPts val="1085"/>
              </a:spcBef>
              <a:defRPr sz="2400" b="1">
                <a:latin typeface="Calibri"/>
              </a:defRPr>
            </a:pPr>
            <a:r>
              <a:rPr lang="ru-RU" spc="55">
                <a:latin typeface="Calibri"/>
                <a:cs typeface="Trebuchet MS"/>
              </a:rPr>
              <a:t>ПРОБЛЕМА</a:t>
            </a:r>
            <a:endParaRPr lang="ru-RU">
              <a:latin typeface="Trebuchet MS"/>
              <a:cs typeface="Trebuchet MS"/>
            </a:endParaRPr>
          </a:p>
        </p:txBody>
      </p:sp>
      <p:sp>
        <p:nvSpPr>
          <p:cNvPr id="1182525795" name="object 7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2</a:t>
            </a:fld>
            <a:endParaRPr spc="-50">
              <a:solidFill>
                <a:srgbClr val="FFFFFF"/>
              </a:solidFill>
            </a:endParaRPr>
          </a:p>
        </p:txBody>
      </p:sp>
      <p:sp>
        <p:nvSpPr>
          <p:cNvPr id="1224662567" name="object 70"/>
          <p:cNvSpPr txBox="1"/>
          <p:nvPr/>
        </p:nvSpPr>
        <p:spPr bwMode="auto">
          <a:xfrm>
            <a:off x="533399" y="1371600"/>
            <a:ext cx="10515600" cy="3853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1">
                <a:solidFill>
                  <a:srgbClr val="0F172A"/>
                </a:solidFill>
                <a:latin typeface="Calibri"/>
              </a:rPr>
              <a:t>Система решает острую проблему двух взаимосвязанных целевых групп потребителей: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1. Владельцы подержанных автомобилей (52,8 млн авто в РФ, из них 72% старше 10 лет):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Автовладельцы стремятся самостоятельно обслуживать машину или точно понимать причину неисправности, но не имеют инженерных знаний. Поездка к официальному дилеру экономически нецелесообразна (нормо-час 4 000–6 000 ₽), а в гаражных сервисах высок риск навязанного ремонта и неквалифицированной замены исправных узлов.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2. Частные мастера-диагносты и малые независимые СТО (32,1% рынка автосервисов):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Специалисты лишены доступа к зарубежным профессиональным базам данных (Autodata, Bosch ESI) из-за санкций и неподъемной стоимости подписки. Вынуждены диагностировать «на ощупь», тратя до 2–3 часов на поиск плавающих неисправностей электроники и теряя клиентов.</a:t>
            </a:r>
          </a:p>
        </p:txBody>
      </p:sp>
      <p:pic>
        <p:nvPicPr>
          <p:cNvPr id="1613643408" name="Рисунок 7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395427" y="590061"/>
            <a:ext cx="1455005" cy="262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584696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6711498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838200" y="344441"/>
            <a:ext cx="10050780" cy="816317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 marR="5080" algn="just">
              <a:lnSpc>
                <a:spcPts val="6600"/>
              </a:lnSpc>
              <a:spcBef>
                <a:spcPts val="710"/>
              </a:spcBef>
              <a:defRPr sz="2400" b="1">
                <a:latin typeface="Calibri"/>
              </a:defRPr>
            </a:pPr>
            <a:r>
              <a:rPr lang="ru-RU" spc="-45">
                <a:latin typeface="Calibri"/>
                <a:cs typeface="Trebuchet MS"/>
              </a:rPr>
              <a:t>РЕШЕНИЕ</a:t>
            </a:r>
            <a:endParaRPr lang="ru-RU">
              <a:latin typeface="Trebuchet MS"/>
              <a:cs typeface="Trebuchet MS"/>
            </a:endParaRPr>
          </a:p>
        </p:txBody>
      </p:sp>
      <p:pic>
        <p:nvPicPr>
          <p:cNvPr id="11529321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855422160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3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204140283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238162419" name="Прямоугольник 57"/>
          <p:cNvSpPr/>
          <p:nvPr/>
        </p:nvSpPr>
        <p:spPr bwMode="auto">
          <a:xfrm>
            <a:off x="533398" y="1371600"/>
            <a:ext cx="10515600" cy="3749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/>
            </a:pPr>
            <a:r>
              <a:rPr sz="1400" b="1">
                <a:solidFill>
                  <a:srgbClr val="0F172A"/>
                </a:solidFill>
                <a:latin typeface="Calibri"/>
              </a:rPr>
              <a:t>«ИИдеал Авто» — автономная мультимодальная экспертная система автодиагностики, трансформирующая комплекс первичных симптомов в верифицированный пошаговый чеклист ремонта.</a:t>
            </a:r>
            <a:endParaRPr sz="2400" b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Принцип работы «от симптома к причине»: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В отличие от традиционных автосканеров, работающих по принципу «от кода к коду», система анализирует комплекс разнородных данных: текст жалоб автовладельца, спектрограмму аудиозаписи шума ДВС (16 кГц), макрофото узлов и логи телеметрии шины CAN / OBD-II.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• Готовая структурированная диагностическая карта: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1E293B"/>
                </a:solidFill>
                <a:latin typeface="Calibri"/>
              </a:rPr>
              <a:t>Пользователь получает не просто расшифровку кода DTC, а наглядный интерактивный алгоритм: последовательность проверки узлов, эталонные диапазоны замеров мультиметром (В, Ом), регламентные моменты затяжки (Н·м), перечень специнструмента и артикулы необходимых запчастей.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951851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30058198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62206" y="593775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 sz="2400" b="1">
                <a:latin typeface="Calibri"/>
              </a:defRPr>
            </a:pPr>
            <a:r>
              <a:rPr lang="ru-RU" spc="140">
                <a:latin typeface="Calibri"/>
                <a:cs typeface="Trebuchet MS"/>
              </a:rPr>
              <a:t>ТЕХНОЛОГИЧЕСКОЕ ЯДРО ПРОЕКТА</a:t>
            </a:r>
            <a:endParaRPr lang="ru-RU">
              <a:latin typeface="Trebuchet MS"/>
              <a:cs typeface="Trebuchet MS"/>
            </a:endParaRPr>
          </a:p>
        </p:txBody>
      </p:sp>
      <p:pic>
        <p:nvPicPr>
          <p:cNvPr id="1268226267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601349285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4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725259604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801424493" name="Прямоугольник 3"/>
          <p:cNvSpPr/>
          <p:nvPr/>
        </p:nvSpPr>
        <p:spPr bwMode="auto">
          <a:xfrm>
            <a:off x="457198" y="1280160"/>
            <a:ext cx="10789920" cy="5060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50" b="1">
                <a:solidFill>
                  <a:srgbClr val="0F172A"/>
                </a:solidFill>
                <a:latin typeface="Calibri"/>
              </a:rPr>
              <a:t>«ИИдеал Авто» функционирует локально на оборудовании пользователя без передачи данных в облако. Архитектура подтверждена исходным кодом проекта:</a:t>
            </a:r>
            <a:endParaRPr sz="2000" b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1. Гибридный RAG-поиск: </a:t>
            </a:r>
            <a:r>
              <a:rPr sz="1300" b="0">
                <a:solidFill>
                  <a:srgbClr val="1E293B"/>
                </a:solidFill>
                <a:latin typeface="Calibri"/>
              </a:rPr>
              <a:t>Двухэтапная система извлечения знаний: семантический Bi-Encoder (paraphrase-multilingual-MiniLM-L12-v2 + FAISS IndexFlatIP) + лексический BM25Okapi с символьными триграммами и Cross-Encoder реранкером (Recall@3 = 100%, время 4.5 мс).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2. Доменная адаптация под износ авто: </a:t>
            </a:r>
            <a:r>
              <a:rPr sz="1300" b="0">
                <a:solidFill>
                  <a:srgbClr val="1E293B"/>
                </a:solidFill>
                <a:latin typeface="Calibri"/>
              </a:rPr>
              <a:t>Алгоритмический бустинг точных кодов DTC (x2.5) и динамический весовой коэффициент износа: (100 - health_index) / 200, приоритизирующий старение узлов на авто старше 7–10 лет.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3. Послойный инференс AirLLM (Google Gemma 4 12B Unified): </a:t>
            </a:r>
            <a:r>
              <a:rPr sz="1300" b="0">
                <a:solidFill>
                  <a:srgbClr val="1E293B"/>
                </a:solidFill>
                <a:latin typeface="Calibri"/>
              </a:rPr>
              <a:t>Послойная загрузка 48 декодер-слоев квантованной модели (W4A16 QAT) с распределением между VRAM GPU и DMA Pinned RAM. Обеспечивает запуск LLM 12B на потребительских GPU (RTX 3050) без риска OOM.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4. Прямой мультимодальный процессинг: </a:t>
            </a:r>
            <a:r>
              <a:rPr sz="1300" b="0">
                <a:solidFill>
                  <a:srgbClr val="1E293B"/>
                </a:solidFill>
                <a:latin typeface="Calibri"/>
              </a:rPr>
              <a:t>Обработка аудио без промежуточной транскрипции через PyAV/FFmpeg (Direct Audio 16 кГц float32), Vision-проектор фото дефектов, парсеры мануалов ТО (PDF, DOCX, XLSX) и прямая интеграция с шиной CAN/OBD-II.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206" y="400000"/>
            <a:ext cx="9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АРХИТЕКТУРА И ИНФОРМАЦИОННОЕ ВЗАИМОДЕЙСТВИЕ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Функциональная схема по ГОСТ 19.701-90 (ЕСПД) взаимодействия пользователя, автомобиля и локального ИИ-ядра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9145" y="6442645"/>
            <a:ext cx="28257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4.1</a:t>
            </a:r>
          </a:p>
        </p:txBody>
      </p:sp>
      <p:pic>
        <p:nvPicPr>
          <p:cNvPr id="6" name="Picture 5" descr="architecture_g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1180000"/>
            <a:ext cx="11092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619077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5777343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62206" y="593775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pc="125">
                <a:latin typeface="Calibri"/>
                <a:cs typeface="Trebuchet MS"/>
              </a:rPr>
              <a:t>КОНКУРЕНТЫ И АНАЛОГИ</a:t>
            </a:r>
            <a:endParaRPr/>
          </a:p>
        </p:txBody>
      </p:sp>
      <p:pic>
        <p:nvPicPr>
          <p:cNvPr id="326803619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789274719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6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445615829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graphicFrame>
        <p:nvGraphicFramePr>
          <p:cNvPr id="1961619078" name="Table 1961619077"/>
          <p:cNvGraphicFramePr>
            <a:graphicFrameLocks noGrp="1"/>
          </p:cNvGraphicFramePr>
          <p:nvPr/>
        </p:nvGraphicFramePr>
        <p:xfrm>
          <a:off x="550000" y="1400000"/>
          <a:ext cx="1109200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Характеристики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ИИдеал Авто</a:t>
                      </a:r>
                      <a:br/>
                      <a:r>
                        <a:rPr sz="1300" b="1">
                          <a:solidFill>
                            <a:srgbClr val="7C3AED"/>
                          </a:solidFill>
                          <a:latin typeface="Calibri"/>
                        </a:rPr>
                        <a:t>(Россия, разработка)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Qira</a:t>
                      </a:r>
                      <a:br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(Германия)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MechNostic</a:t>
                      </a:r>
                      <a:br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(США)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VINPIN СТО</a:t>
                      </a:r>
                      <a:br/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(Россия)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Принцип работы и логика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От симптома к причине (гибридный RAG + чеклист)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От кода к коду (дилерские деревья решений)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Текстовый чат-бот по кодам ошибок OBD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Статический каталог схем и регламентов по VIN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Входные мультимодальные данные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Текст + фото узлов (Vision) + аудио 16 кГц шумов + OBD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Текст + подключение сканера OBD-II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Только текст + фото (обработка в облаке)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Только текст / ручной выбор марки и узла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Приватность и автономность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100% локально (AirLLM + DMA RAM, SQLite, без сети)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Облако (серверы в ЕС, недоступны в РФ)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Облако (серверы в США, API OpenAI)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Облачный веб-сервис по годовой подписке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Формат результата диагностики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Карта проверок + пошаговый чеклист + моменты (Н·м)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Стандартный отчет по ошибкам для мастера СТО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Сплошной текстовый диалог без регламентов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Чертежи узлов, нормы времени, схемы проводки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Ценовая модель и доступность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299–1 490 ₽/мес (доступно частникам и малым СТО)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€150–500/мес (только юрлица, блок для РФ)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20–50 $/мес (оплата картами банков США/ЕС)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От 50 000 ₽/год (ориентация на крупные СТО)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Calibri"/>
                        </a:rPr>
                        <a:t>Адаптация под автопарк РФ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Высокая (база авто старше 7–10 лет, износ, РФ/КНР)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Низкая (только новые европейские авто)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Низкая (только рынок США)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Средняя (каталоги есть, но нет ИИ-анализа)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1150480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6" cy="1602486"/>
          </a:xfrm>
          <a:prstGeom prst="rect">
            <a:avLst/>
          </a:prstGeom>
        </p:spPr>
      </p:pic>
      <p:pic>
        <p:nvPicPr>
          <p:cNvPr id="1965585967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22792" y="801243"/>
            <a:ext cx="1455004" cy="262067"/>
          </a:xfrm>
          <a:prstGeom prst="rect">
            <a:avLst/>
          </a:prstGeom>
        </p:spPr>
      </p:pic>
      <p:sp>
        <p:nvSpPr>
          <p:cNvPr id="990587776" name="object 2"/>
          <p:cNvSpPr/>
          <p:nvPr/>
        </p:nvSpPr>
        <p:spPr bwMode="auto">
          <a:xfrm>
            <a:off x="625474" y="584199"/>
            <a:ext cx="0" cy="684529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17278865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696635" y="593774"/>
            <a:ext cx="10054379" cy="574466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34"/>
              </a:spcBef>
              <a:defRPr/>
            </a:pPr>
            <a:r>
              <a:rPr sz="1500" b="1" i="0" u="none">
                <a:solidFill>
                  <a:srgbClr val="F9FAFB"/>
                </a:solidFill>
                <a:latin typeface="Calibri"/>
                <a:ea typeface="Arial"/>
                <a:cs typeface="Arial"/>
              </a:rPr>
              <a:t> </a:t>
            </a:r>
            <a:r>
              <a:rPr sz="3200" b="1" i="0" u="none">
                <a:solidFill>
                  <a:schemeClr val="tx1"/>
                </a:solidFill>
                <a:latin typeface="Calibri"/>
                <a:ea typeface="Trebuchet MS"/>
                <a:cs typeface="Trebuchet MS"/>
              </a:rPr>
              <a:t>Анализ массовых мобильных приложений</a:t>
            </a:r>
            <a:endParaRPr/>
          </a:p>
        </p:txBody>
      </p:sp>
      <p:sp>
        <p:nvSpPr>
          <p:cNvPr id="390113744" name=" 390113743"/>
          <p:cNvSpPr/>
          <p:nvPr/>
        </p:nvSpPr>
        <p:spPr bwMode="auto">
          <a:xfrm>
            <a:off x="625474" y="1268730"/>
            <a:ext cx="9234488" cy="244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graphicFrame>
        <p:nvGraphicFramePr>
          <p:cNvPr id="614819475" name="Таблица 614819474"/>
          <p:cNvGraphicFramePr>
            <a:graphicFrameLocks/>
          </p:cNvGraphicFramePr>
          <p:nvPr/>
        </p:nvGraphicFramePr>
        <p:xfrm>
          <a:off x="546099" y="1512929"/>
          <a:ext cx="11348270" cy="45286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69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944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«ИИдеал Авто»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Car Scanner ELM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Tor OBD2 Scanner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Тип продукта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Экспертная ИИ-система (RAG + нейросети)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OBD2-сканер для чтения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OBD2-сканер для чтения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Облачный ИИ-чат-бот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Формат ответа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Структурированный план: причина → инструменты → шаги → затяжки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код ошибки и краткое описание (P0300 = пропуск)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код ошибки и графики датчиков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Текстовый ответ в чате (без чек-листов)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Ввод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Текст + фото узлов + аудио стуков + PDF-логи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подключение через ELM327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подключение через ELM327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печать текста с клавиатуры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Приватность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100% локально, база в SQLite на устройстве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Требуется интернет для части функций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Данные логируются на серверах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Данные уходят на серверы OpenAI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Стоимость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299–1490 ₽/мес (SaaS-подписка)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699 ₽ разово (Pro-версия)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599 ₽ разово (Premium)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Подписка (с ограничениями)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944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Сохранение прогресса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Интерактивные чек-листы, память диалога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Нет (только история сканирований)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Нет (только история сканирований)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история чата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5982996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6" cy="1602486"/>
          </a:xfrm>
          <a:prstGeom prst="rect">
            <a:avLst/>
          </a:prstGeom>
        </p:spPr>
      </p:pic>
      <p:pic>
        <p:nvPicPr>
          <p:cNvPr id="208380363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22792" y="801243"/>
            <a:ext cx="1455004" cy="262067"/>
          </a:xfrm>
          <a:prstGeom prst="rect">
            <a:avLst/>
          </a:prstGeom>
        </p:spPr>
      </p:pic>
      <p:sp>
        <p:nvSpPr>
          <p:cNvPr id="1984558488" name="object 2"/>
          <p:cNvSpPr/>
          <p:nvPr/>
        </p:nvSpPr>
        <p:spPr bwMode="auto">
          <a:xfrm>
            <a:off x="625474" y="584199"/>
            <a:ext cx="0" cy="684529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9098154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696635" y="593774"/>
            <a:ext cx="10056899" cy="574466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34"/>
              </a:spcBef>
              <a:defRPr/>
            </a:pPr>
            <a:r>
              <a:rPr sz="1500" b="1" i="0" u="none">
                <a:solidFill>
                  <a:srgbClr val="F9FAFB"/>
                </a:solidFill>
                <a:latin typeface="Calibri"/>
                <a:ea typeface="Arial"/>
                <a:cs typeface="Arial"/>
              </a:rPr>
              <a:t> </a:t>
            </a:r>
            <a:r>
              <a:rPr sz="3200" b="1" i="0" u="none">
                <a:solidFill>
                  <a:schemeClr val="tx1"/>
                </a:solidFill>
                <a:latin typeface="Calibri"/>
                <a:ea typeface="Trebuchet MS"/>
                <a:cs typeface="Trebuchet MS"/>
              </a:rPr>
              <a:t>Рыночный потенциал конкурентов</a:t>
            </a:r>
            <a:endParaRPr>
              <a:latin typeface="Trebuchet MS"/>
              <a:cs typeface="Trebuchet MS"/>
            </a:endParaRPr>
          </a:p>
        </p:txBody>
      </p:sp>
      <p:sp>
        <p:nvSpPr>
          <p:cNvPr id="694506457" name=" 694506456"/>
          <p:cNvSpPr/>
          <p:nvPr/>
        </p:nvSpPr>
        <p:spPr bwMode="auto">
          <a:xfrm>
            <a:off x="625474" y="1268730"/>
            <a:ext cx="9234488" cy="244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endParaRPr/>
          </a:p>
        </p:txBody>
      </p:sp>
      <p:graphicFrame>
        <p:nvGraphicFramePr>
          <p:cNvPr id="1740460983" name="Таблица 1740460982"/>
          <p:cNvGraphicFramePr>
            <a:graphicFrameLocks/>
          </p:cNvGraphicFramePr>
          <p:nvPr/>
        </p:nvGraphicFramePr>
        <p:xfrm>
          <a:off x="572558" y="1450974"/>
          <a:ext cx="10852320" cy="4779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1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7495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Характеристики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Car Scanner ELM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Tor OBD2 Scanner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Кто платит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Частные автовладельцы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Автолюбители-энтузиасты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Частные пользователи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Модель монетизации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Разовая покупка (699 ₽)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Разовая покупка (599 ₽)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Подписка / Реклама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Потенциальная аудитория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~10 млн скачиваний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~1 млн скачиваний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~100 тыс. скачиваний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Объём сегмента (TAM)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~5 млрд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~1 млрд 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~0,5 млрд 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Оценка выручки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~300 млн ₽/год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~150 млн ₽/год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~50 млн ₽/год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Ключевой недостаток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чтение кодов, нет плана ремонта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Только чтение кодов, нет плана ремонта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Отсутствие структуры (только чат)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749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Доля на рынке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Лидер ниши сканеров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Крупный игрок ниши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Мелкий нишевый игрок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954402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8923126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68832" y="409110"/>
            <a:ext cx="10050780" cy="949045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spcBef>
                <a:spcPts val="135"/>
              </a:spcBef>
              <a:defRPr/>
            </a:pPr>
            <a:r>
              <a:rPr lang="ru-RU" sz="2800" spc="125">
                <a:latin typeface="Calibri"/>
              </a:rPr>
              <a:t>МОДЕЛЬ МОНЕТИЗАЦИИ </a:t>
            </a:r>
            <a:br>
              <a:rPr lang="en-US" sz="2800" spc="125">
                <a:latin typeface="Trebuchet MS"/>
              </a:rPr>
            </a:br>
            <a:r>
              <a:rPr lang="ru-RU" sz="2800" spc="125">
                <a:latin typeface="Calibri"/>
              </a:rPr>
              <a:t>РЫНОК И ПОТРЕБИТЕЛИ</a:t>
            </a:r>
            <a:endParaRPr/>
          </a:p>
        </p:txBody>
      </p:sp>
      <p:pic>
        <p:nvPicPr>
          <p:cNvPr id="144837933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417446961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9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672223703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1489407686" name="Прямоугольник 3"/>
          <p:cNvSpPr/>
          <p:nvPr/>
        </p:nvSpPr>
        <p:spPr bwMode="auto">
          <a:xfrm>
            <a:off x="398882" y="1280160"/>
            <a:ext cx="5303520" cy="438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00" b="1">
                <a:solidFill>
                  <a:srgbClr val="7C3AED"/>
                </a:solidFill>
                <a:latin typeface="Calibri"/>
              </a:rPr>
              <a:t>ЦЕЛЕВЫЕ СЕГМЕНТЫ РЫНКА (B2C И B2B):</a:t>
            </a:r>
            <a:endParaRPr sz="1800" b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1. Владельцы авто с пробегом (TAM 52,8 млн авто, 72% старше 10 лет) — ключевая аудитория. Стремятся сэкономить 8 000–25 000 ₽/год на ТО и диагностике.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2. Автолюбители-энтузиасты — самостоятельно ремонтируют и дооснащают автомобили в гараже.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3. Частные выездные диагносты — нуждаются в мобильном инструменте комплексной верификации узлов.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4. Малые независимые СТО (41 800 станций в РФ) — ускорение диагностики в 2.5 раза и обучение молодых механиков.</a:t>
            </a:r>
          </a:p>
        </p:txBody>
      </p:sp>
      <p:sp>
        <p:nvSpPr>
          <p:cNvPr id="1113926039" name="Прямоугольник 3"/>
          <p:cNvSpPr/>
          <p:nvPr/>
        </p:nvSpPr>
        <p:spPr bwMode="auto">
          <a:xfrm>
            <a:off x="6217920" y="1280160"/>
            <a:ext cx="5303520" cy="438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00" b="1">
                <a:solidFill>
                  <a:srgbClr val="EA580C"/>
                </a:solidFill>
                <a:latin typeface="Calibri"/>
              </a:rPr>
              <a:t>ТАРИФНАЯ МОДЕЛЬ ПОДПИСКИ (SaaS):</a:t>
            </a:r>
            <a:endParaRPr sz="1800" b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Freemium (0 ₽/мес): </a:t>
            </a:r>
            <a:r>
              <a:rPr sz="1250">
                <a:solidFill>
                  <a:srgbClr val="1E293B"/>
                </a:solidFill>
                <a:latin typeface="Calibri"/>
              </a:rPr>
              <a:t>До 3 экспресс-запросов в месяц по текстовым симптомам и кодам DTC без фото/аудио анализа (воронка привлечения).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Базовый B2C (299–499 ₽/мес): </a:t>
            </a:r>
            <a:r>
              <a:rPr sz="1250">
                <a:solidFill>
                  <a:srgbClr val="1E293B"/>
                </a:solidFill>
                <a:latin typeface="Calibri"/>
              </a:rPr>
              <a:t>Неограниченная диагностика 1 личного автомобиля, полный RAG-чеклист, аудио- и фотоанализ, регламентные затяжки.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Студенческий (149 ₽/мес): </a:t>
            </a:r>
            <a:r>
              <a:rPr sz="1250">
                <a:solidFill>
                  <a:srgbClr val="1E293B"/>
                </a:solidFill>
                <a:latin typeface="Calibri"/>
              </a:rPr>
              <a:t>Льготный доступ для студентов инженерных и автотранспортных специальностей вузов и колледжей.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• Профессиональный B2B (1 490 ₽/мес): </a:t>
            </a:r>
            <a:r>
              <a:rPr sz="1250">
                <a:solidFill>
                  <a:srgbClr val="1E293B"/>
                </a:solidFill>
                <a:latin typeface="Calibri"/>
              </a:rPr>
              <a:t>Мультимарочная база для независимых СТО, экспорт карт в PDF, логирование сессий клиентов, поддержка AR HUD RayNeo.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593117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94450873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КОМАНДА И ПРОГРЕСС</a:t>
            </a:r>
            <a:endParaRPr/>
          </a:p>
        </p:txBody>
      </p:sp>
      <p:pic>
        <p:nvPicPr>
          <p:cNvPr id="1235070511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900950549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10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678866349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1202841055" name="Прямоугольник 3"/>
          <p:cNvSpPr/>
          <p:nvPr/>
        </p:nvSpPr>
        <p:spPr bwMode="auto">
          <a:xfrm>
            <a:off x="594360" y="1280160"/>
            <a:ext cx="6583680" cy="484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sz="1350" b="1">
                <a:solidFill>
                  <a:srgbClr val="7C3AED"/>
                </a:solidFill>
                <a:latin typeface="Calibri"/>
              </a:rPr>
              <a:t>СОСТАВ КОМАНДЫ (Студенты 4 курса гр. ПО-32б, ЮЗГУ):</a:t>
            </a:r>
            <a:endParaRPr/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Подорожный Максим </a:t>
            </a:r>
            <a:r>
              <a:rPr sz="1200" b="1">
                <a:solidFill>
                  <a:srgbClr val="7C3AED"/>
                </a:solidFill>
                <a:latin typeface="Calibri"/>
              </a:rPr>
              <a:t>[Лидер / Архитектор]: </a:t>
            </a:r>
            <a:r>
              <a:rPr sz="1200">
                <a:solidFill>
                  <a:srgbClr val="1E293B"/>
                </a:solidFill>
                <a:latin typeface="Calibri"/>
              </a:rPr>
              <a:t>Клиент-серверное ядро, RAG (BERT+FAISS), инференс Gemma 4 12B AirLLM.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Эрденко Максим </a:t>
            </a:r>
            <a:r>
              <a:rPr sz="1200" b="1">
                <a:solidFill>
                  <a:srgbClr val="7C3AED"/>
                </a:solidFill>
                <a:latin typeface="Calibri"/>
              </a:rPr>
              <a:t>[Фронтенд-разработчик]: </a:t>
            </a:r>
            <a:r>
              <a:rPr sz="1200">
                <a:solidFill>
                  <a:srgbClr val="1E293B"/>
                </a:solidFill>
                <a:latin typeface="Calibri"/>
              </a:rPr>
              <a:t>Клиент PWA, двухрежимный AR HUD очков RayNeo, оптимистичный UI.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Гусева Елена </a:t>
            </a:r>
            <a:r>
              <a:rPr sz="1200" b="1">
                <a:solidFill>
                  <a:srgbClr val="7C3AED"/>
                </a:solidFill>
                <a:latin typeface="Calibri"/>
              </a:rPr>
              <a:t>[Аналитик / Маркетолог]: </a:t>
            </a:r>
            <a:r>
              <a:rPr sz="1200">
                <a:solidFill>
                  <a:srgbClr val="1E293B"/>
                </a:solidFill>
                <a:latin typeface="Calibri"/>
              </a:rPr>
              <a:t>Анализ рынка (52,8 млн авто), финмодель SaaS, исследование СТО.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Разгуляев Егор </a:t>
            </a:r>
            <a:r>
              <a:rPr sz="1200" b="1">
                <a:solidFill>
                  <a:srgbClr val="7C3AED"/>
                </a:solidFill>
                <a:latin typeface="Calibri"/>
              </a:rPr>
              <a:t>[ML-инженер]: </a:t>
            </a:r>
            <a:r>
              <a:rPr sz="1200">
                <a:solidFill>
                  <a:srgbClr val="1E293B"/>
                </a:solidFill>
                <a:latin typeface="Calibri"/>
              </a:rPr>
              <a:t>Датасет телеметрии (32 733 записи), калибровка Bi/Cross-Encoder.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Свирин Николай </a:t>
            </a:r>
            <a:r>
              <a:rPr sz="1200" b="1">
                <a:solidFill>
                  <a:srgbClr val="7C3AED"/>
                </a:solidFill>
                <a:latin typeface="Calibri"/>
              </a:rPr>
              <a:t>[Инженер БД]: </a:t>
            </a:r>
            <a:r>
              <a:rPr sz="1200">
                <a:solidFill>
                  <a:srgbClr val="1E293B"/>
                </a:solidFill>
                <a:latin typeface="Calibri"/>
              </a:rPr>
              <a:t>Архитектура SQLite, Base64 Data URI, справочники кодов OBD-II (DTC).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Корнеев Егор </a:t>
            </a:r>
            <a:r>
              <a:rPr sz="1200" b="1">
                <a:solidFill>
                  <a:srgbClr val="7C3AED"/>
                </a:solidFill>
                <a:latin typeface="Calibri"/>
              </a:rPr>
              <a:t>[QA-инженер]: </a:t>
            </a:r>
            <a:r>
              <a:rPr sz="1200">
                <a:solidFill>
                  <a:srgbClr val="1E293B"/>
                </a:solidFill>
                <a:latin typeface="Calibri"/>
              </a:rPr>
              <a:t>Тестовые сценарии диагностики, валидация пошаговых чеклистов узлов.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Рыжков Егор </a:t>
            </a:r>
            <a:r>
              <a:rPr sz="1200" b="1">
                <a:solidFill>
                  <a:srgbClr val="7C3AED"/>
                </a:solidFill>
                <a:latin typeface="Calibri"/>
              </a:rPr>
              <a:t>[UI/UX дизайнер]: </a:t>
            </a:r>
            <a:r>
              <a:rPr sz="1200">
                <a:solidFill>
                  <a:srgbClr val="1E293B"/>
                </a:solidFill>
                <a:latin typeface="Calibri"/>
              </a:rPr>
              <a:t>Дизайн-система, пиктограммы узлов, интерактивные чеклисты, AR-оверлей.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Михайлов Александр </a:t>
            </a:r>
            <a:r>
              <a:rPr sz="1200" b="1">
                <a:solidFill>
                  <a:srgbClr val="7C3AED"/>
                </a:solidFill>
                <a:latin typeface="Calibri"/>
              </a:rPr>
              <a:t>[Аппаратная часть]: </a:t>
            </a:r>
            <a:r>
              <a:rPr sz="1200">
                <a:solidFill>
                  <a:srgbClr val="1E293B"/>
                </a:solidFill>
                <a:latin typeface="Calibri"/>
              </a:rPr>
              <a:t>Протоколы CAN/OBD-II, сопряжение с ELM327, фильтрация сигналов датчиков.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Динамика компетенций: от гипотезы — к слаженной Agile-команде с готовым прототипом (TRL 4–5).</a:t>
            </a:r>
          </a:p>
        </p:txBody>
      </p:sp>
      <p:pic>
        <p:nvPicPr>
          <p:cNvPr id="1789471985" name="object 23"/>
          <p:cNvPicPr/>
          <p:nvPr/>
        </p:nvPicPr>
        <p:blipFill rotWithShape="1">
          <a:blip r:embed="rId5"/>
          <a:stretch/>
        </p:blipFill>
        <p:spPr bwMode="auto">
          <a:xfrm>
            <a:off x="7467599" y="1895310"/>
            <a:ext cx="4724399" cy="4962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10133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57713070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ПАРТНЕРЫ</a:t>
            </a:r>
            <a:endParaRPr/>
          </a:p>
        </p:txBody>
      </p:sp>
      <p:pic>
        <p:nvPicPr>
          <p:cNvPr id="1825934284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765310605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11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27941672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266392712" name="Прямоугольник 3"/>
          <p:cNvSpPr/>
          <p:nvPr/>
        </p:nvSpPr>
        <p:spPr bwMode="auto">
          <a:xfrm>
            <a:off x="594360" y="1280160"/>
            <a:ext cx="6583680" cy="484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sz="1350" b="1">
                <a:solidFill>
                  <a:srgbClr val="7C3AED"/>
                </a:solidFill>
                <a:latin typeface="Calibri"/>
              </a:rPr>
              <a:t>ЗАДАЧА ПАРТНЕРА В ОСНОВЕ ПРОЕКТА:</a:t>
            </a:r>
            <a:endParaRPr/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Острая нехватка у независимых СТО доступа к базам Autodata и Bosch ESI из-за санкций. Мастера тратят до 2–3 часов на диагностику «на опыте», теряя клиентов при сложных плавающих неисправностях электроники.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ПАРТНЕРЫ И ПЛОЩАДКИ ПИЛОТИРОВАНИЯ: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7C3AED"/>
                </a:solidFill>
                <a:latin typeface="Calibri"/>
              </a:rPr>
              <a:t>• ЮЗГУ (Кафедра программной инженерии): </a:t>
            </a:r>
            <a:r>
              <a:rPr sz="1200">
                <a:solidFill>
                  <a:srgbClr val="1E293B"/>
                </a:solidFill>
                <a:latin typeface="Calibri"/>
              </a:rPr>
              <a:t>Лаборатория вычислений для квантования Gemma 4, научно-техническая экспертиза, содействие в РИД.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7C3AED"/>
                </a:solidFill>
                <a:latin typeface="Calibri"/>
              </a:rPr>
              <a:t>• Независимая СТО (г. Курск): </a:t>
            </a:r>
            <a:r>
              <a:rPr sz="1200">
                <a:solidFill>
                  <a:srgbClr val="1E293B"/>
                </a:solidFill>
                <a:latin typeface="Calibri"/>
              </a:rPr>
              <a:t>Поток авто с пробегом (10+ лет) для полевой верификации чеклистов, оборудование (осциллографы, J2534).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7C3AED"/>
                </a:solidFill>
                <a:latin typeface="Calibri"/>
              </a:rPr>
              <a:t>• Автоклубы (Drive2, профильные форумы): </a:t>
            </a:r>
            <a:r>
              <a:rPr sz="1200">
                <a:solidFill>
                  <a:srgbClr val="1E293B"/>
                </a:solidFill>
                <a:latin typeface="Calibri"/>
              </a:rPr>
              <a:t>Поставка датасетов аудиозаписей стуков ДВС и обратная связь по эргономике чеклистов.</a:t>
            </a:r>
          </a:p>
          <a:p>
            <a:pPr>
              <a:spcAft>
                <a:spcPts val="0"/>
              </a:spcAft>
            </a:pPr>
            <a:r>
              <a:rPr sz="1250" b="1">
                <a:solidFill>
                  <a:srgbClr val="EA580C"/>
                </a:solidFill>
                <a:latin typeface="Calibri"/>
              </a:rPr>
              <a:t>Ближайший совместный шаг: </a:t>
            </a:r>
            <a:r>
              <a:rPr sz="1250">
                <a:solidFill>
                  <a:srgbClr val="1E293B"/>
                </a:solidFill>
                <a:latin typeface="Calibri"/>
              </a:rPr>
              <a:t>Проведение 50+ контрольных диагностических сессий и подписание акта пилотирования.</a:t>
            </a:r>
          </a:p>
        </p:txBody>
      </p:sp>
      <p:pic>
        <p:nvPicPr>
          <p:cNvPr id="22659423" name="object 23"/>
          <p:cNvPicPr/>
          <p:nvPr/>
        </p:nvPicPr>
        <p:blipFill rotWithShape="1">
          <a:blip r:embed="rId5"/>
          <a:stretch/>
        </p:blipFill>
        <p:spPr bwMode="auto">
          <a:xfrm>
            <a:off x="7467599" y="1895310"/>
            <a:ext cx="4724399" cy="4962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208482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03759391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УРОВЕНЬ ГОТОВНОСТИ ТЕХНОЛОГИИ</a:t>
            </a:r>
            <a:endParaRPr/>
          </a:p>
        </p:txBody>
      </p:sp>
      <p:pic>
        <p:nvPicPr>
          <p:cNvPr id="1688069759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245963020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12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227037200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1983745102" name="Прямоугольник 4"/>
          <p:cNvSpPr/>
          <p:nvPr/>
        </p:nvSpPr>
        <p:spPr bwMode="auto">
          <a:xfrm>
            <a:off x="594360" y="1188720"/>
            <a:ext cx="10789920" cy="1188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/>
            </a:pPr>
            <a:r>
              <a:rPr sz="1350" b="1">
                <a:solidFill>
                  <a:srgbClr val="EA580C"/>
                </a:solidFill>
                <a:latin typeface="Calibri"/>
              </a:rPr>
              <a:t>ТЕКУЩИЙ СТАТУС: TRL 4–5 (ДЕЙСТВУЮЩИЙ ПРОГРАММНЫЙ ПРОТОТИП)</a:t>
            </a:r>
            <a:endParaRPr/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Разработан полнофункциональный программный прототип системы «ИИдеал Авто» (C# / Python / Django). </a:t>
            </a:r>
            <a:r>
              <a:rPr sz="1250">
                <a:solidFill>
                  <a:srgbClr val="1E293B"/>
                </a:solidFill>
                <a:latin typeface="Calibri"/>
              </a:rPr>
              <a:t>Подтверждено в лабораторных условиях: исходный код ядра AirLLM+RAG, тесты evaluate_model.py (Recall@3 = 100%, 4.5 мс), база телеметрии на 32 733 записи, логи сессий и двухрежимный AR HUD RayNeo.</a:t>
            </a:r>
          </a:p>
        </p:txBody>
      </p:sp>
      <p:sp>
        <p:nvSpPr>
          <p:cNvPr id="333281982" name="Прямоугольник 5"/>
          <p:cNvSpPr/>
          <p:nvPr/>
        </p:nvSpPr>
        <p:spPr bwMode="auto">
          <a:xfrm>
            <a:off x="457200" y="286853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1100" i="1" spc="125">
                <a:solidFill>
                  <a:schemeClr val="tx1"/>
                </a:solidFill>
                <a:latin typeface="Calibri"/>
              </a:rPr>
              <a:t>ОПИСАНИЕ </a:t>
            </a:r>
            <a:r>
              <a:rPr lang="ru-RU" sz="1100" i="1" spc="125">
                <a:solidFill>
                  <a:schemeClr val="tx1"/>
                </a:solidFill>
                <a:latin typeface="Calibri"/>
                <a:cs typeface="Trebuchet MS"/>
              </a:rPr>
              <a:t>УРОВНЕЙ ГОТОВНОСТИ И СООТВЕТСТВУЮЩИХ ИМ АРТЕФАКТОВ</a:t>
            </a:r>
            <a:endParaRPr lang="ru-RU" sz="1100" i="1">
              <a:solidFill>
                <a:schemeClr val="tx1"/>
              </a:solidFill>
            </a:endParaRPr>
          </a:p>
        </p:txBody>
      </p:sp>
      <p:graphicFrame>
        <p:nvGraphicFramePr>
          <p:cNvPr id="463318000" name="Таблица 13"/>
          <p:cNvGraphicFramePr>
            <a:graphicFrameLocks noGrp="1"/>
          </p:cNvGraphicFramePr>
          <p:nvPr/>
        </p:nvGraphicFramePr>
        <p:xfrm>
          <a:off x="457200" y="3202295"/>
          <a:ext cx="11429997" cy="336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5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210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Уровень готовности технологии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Краткое описание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Артефакт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1-3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Формирование концепции, лабораторные исследования, создание макета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Научные статьи, отчеты о моделировании, письма заинтересованности от партнеров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4-6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Фото/видео работающего лабораторного макета, протоколы успешных экспериментов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Пилотирование проекта (опытные испытания)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Видеодемонстрация работы прототипа в промышленных условиях, отчет независимого тестирования.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Предсерийное производство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8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Серийное производство, коммерческое использование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Контракты на продажу, фото серийного производства, отзывы клиентов.</a:t>
                      </a:r>
                    </a:p>
                  </a:txBody>
                  <a:tcPr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730597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270993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ПРОГРЕСС ЗА ВРЕМЯ АКСЕЛЕРАЦИИ</a:t>
            </a:r>
            <a:endParaRPr/>
          </a:p>
        </p:txBody>
      </p:sp>
      <p:pic>
        <p:nvPicPr>
          <p:cNvPr id="1110242376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1427326918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13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718446537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1032010259" name="Прямоугольник 3"/>
          <p:cNvSpPr/>
          <p:nvPr/>
        </p:nvSpPr>
        <p:spPr bwMode="auto">
          <a:xfrm>
            <a:off x="600618" y="2435477"/>
            <a:ext cx="9601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300" b="1">
                <a:solidFill>
                  <a:srgbClr val="0F172A"/>
                </a:solidFill>
                <a:latin typeface="Calibri"/>
              </a:rPr>
              <a:t>Динамика развития ключевых аспектов проекта «ИИдеал Авто» в рамках программы акселерации:</a:t>
            </a:r>
            <a:endParaRPr/>
          </a:p>
        </p:txBody>
      </p:sp>
      <p:graphicFrame>
        <p:nvGraphicFramePr>
          <p:cNvPr id="29619716" name="Таблица 8"/>
          <p:cNvGraphicFramePr>
            <a:graphicFrameLocks noGrp="1"/>
          </p:cNvGraphicFramePr>
          <p:nvPr/>
        </p:nvGraphicFramePr>
        <p:xfrm>
          <a:off x="600618" y="3209852"/>
          <a:ext cx="10334880" cy="31960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6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628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До участия в акселерационной программе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После участия в акселерационной программе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1E293B"/>
                          </a:solidFill>
                          <a:latin typeface="Calibri"/>
                        </a:rPr>
                        <a:t>Уровень готовности: TRL 2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Концепция системы, первичный анализ открытых LLM и методов RAG.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Calibri"/>
                        </a:rPr>
                        <a:t>Уровень готовности: TRL 4–5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Работающий прототип AirLLM (Gemma 4 12B W4A16), гибридный RAG (BERT+FAISS), аудиовход 16 кГц и AR HUD.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1E293B"/>
                          </a:solidFill>
                          <a:latin typeface="Calibri"/>
                        </a:rPr>
                        <a:t>Производственная готовность: MRL 1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Отсутствие архитектуры сборки и требований инфраструктуры.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Calibri"/>
                        </a:rPr>
                        <a:t>Производственная готовность: MRL 4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Модульная клиент-серверная архитектура, скрипты run_dev.ps1 / run_dev.sh, Docker, PWA.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1E293B"/>
                          </a:solidFill>
                          <a:latin typeface="Calibri"/>
                        </a:rPr>
                        <a:t>Рыночная готовность: CRL 1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Гипотетическое представление о потребностях автовладельцев.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Calibri"/>
                        </a:rPr>
                        <a:t>Рыночная готовность: CRL 3–4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Объем рынка (TAM 52,8 млн авто), SaaS-модель (299–1 490 ₽/мес), конкурентный анализ.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798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1E293B"/>
                          </a:solidFill>
                          <a:latin typeface="Calibri"/>
                        </a:rPr>
                        <a:t>Партнерства: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Отсутствие договоренностей, студенческая инициатива.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50" b="1">
                          <a:solidFill>
                            <a:srgbClr val="7C3AED"/>
                          </a:solidFill>
                          <a:latin typeface="Calibri"/>
                        </a:rPr>
                        <a:t>Партнерства:</a:t>
                      </a: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Согласовано пилотирование: кафедра Программной инженерии ЮЗГУ и независимая СТО г. Курска.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708198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3700855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ПЛАНЫ РАЗВИТИЯ</a:t>
            </a:r>
            <a:endParaRPr/>
          </a:p>
        </p:txBody>
      </p:sp>
      <p:pic>
        <p:nvPicPr>
          <p:cNvPr id="1574634394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627361122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14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221500710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1849043599" name="Прямоугольник 3"/>
          <p:cNvSpPr/>
          <p:nvPr/>
        </p:nvSpPr>
        <p:spPr bwMode="auto">
          <a:xfrm>
            <a:off x="594360" y="1280160"/>
            <a:ext cx="6858000" cy="484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sz="1350" b="1">
                <a:solidFill>
                  <a:srgbClr val="7C3AED"/>
                </a:solidFill>
                <a:latin typeface="Calibri"/>
              </a:rPr>
              <a:t>КОМПЛЕКСНЫЙ ПЛАН РАЗВИТИЯ «ИИДЕАЛ АВТО» НА 2026–2027 ГГ.:</a:t>
            </a:r>
            <a:endParaRPr/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1. Исследования и разработка (R&amp;D):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Дообучение LoRA-адаптера Gemma 4 по маркам КНР (Haval, Chery, Geely) и авто 10+ лет.
• Оптимизация инференса под мобильные NPU (Snapdragon / Apple NPU) для автономности.
• Чтение стоп-кадров (Freeze Frames) с адаптеров ELM327 по прямому Bluetooth-каналу.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2. Защита интеллектуальной собственности (РИД):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Регистрация программы для ЭВМ «Система автодиагностики ИИдеал Авто» в Роспатенте.
• Регистрация базы данных эталонной телеметрии и алгоритмов пошагового ремонта.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3. Маркетинг и коммерческое внедрение: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Пилотное внедрение в 5 независимых СТО г. Курска с фиксацией актов внедрения.
• Продвижение через профильные автосообщества (Drive2, Telegram-каналы, форумы).
• Партнерская комиссия 5–10% с заказа запчастей по готовому диагностическому чеклисту.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4. Привлечение инвестиций: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Подача заявки на грант «Студенческий стартап» Фонда содействия инновациям (1 млн ₽).
• Участие в демо-днях ПУТП и привлечение pre-seed раунда (3–5 млн ₽).</a:t>
            </a:r>
          </a:p>
        </p:txBody>
      </p:sp>
      <p:pic>
        <p:nvPicPr>
          <p:cNvPr id="99703019" name="object 20"/>
          <p:cNvPicPr/>
          <p:nvPr/>
        </p:nvPicPr>
        <p:blipFill rotWithShape="1">
          <a:blip r:embed="rId5"/>
          <a:stretch/>
        </p:blipFill>
        <p:spPr bwMode="auto">
          <a:xfrm>
            <a:off x="8062721" y="1220088"/>
            <a:ext cx="3971035" cy="5501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72195" name="object 2"/>
          <p:cNvSpPr/>
          <p:nvPr/>
        </p:nvSpPr>
        <p:spPr bwMode="auto"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 extrusionOk="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7726324" name="object 3" descr="$PPTXTitle"/>
          <p:cNvSpPr txBox="1">
            <a:spLocks noGrp="1"/>
          </p:cNvSpPr>
          <p:nvPr>
            <p:ph type="title"/>
          </p:nvPr>
        </p:nvSpPr>
        <p:spPr bwMode="auto"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lang="ru-RU" sz="2800" spc="125">
                <a:latin typeface="Calibri"/>
                <a:cs typeface="Trebuchet MS"/>
              </a:rPr>
              <a:t>ЗАПРОС</a:t>
            </a:r>
            <a:endParaRPr/>
          </a:p>
        </p:txBody>
      </p:sp>
      <p:pic>
        <p:nvPicPr>
          <p:cNvPr id="1805213208" name="object 55"/>
          <p:cNvPicPr/>
          <p:nvPr/>
        </p:nvPicPr>
        <p:blipFill rotWithShape="1">
          <a:blip r:embed="rId3"/>
          <a:stretch/>
        </p:blipFill>
        <p:spPr bwMode="auto"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200765885" name="object 5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15</a:t>
            </a:fld>
            <a:endParaRPr spc="-50">
              <a:solidFill>
                <a:srgbClr val="FFFFFF"/>
              </a:solidFill>
            </a:endParaRPr>
          </a:p>
        </p:txBody>
      </p:sp>
      <p:pic>
        <p:nvPicPr>
          <p:cNvPr id="1863078395" name="Рисунок 5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85484" y="752599"/>
            <a:ext cx="1455005" cy="262068"/>
          </a:xfrm>
          <a:prstGeom prst="rect">
            <a:avLst/>
          </a:prstGeom>
        </p:spPr>
      </p:pic>
      <p:sp>
        <p:nvSpPr>
          <p:cNvPr id="2010500540" name="Прямоугольник 3"/>
          <p:cNvSpPr/>
          <p:nvPr/>
        </p:nvSpPr>
        <p:spPr bwMode="auto">
          <a:xfrm>
            <a:off x="594360" y="1280160"/>
            <a:ext cx="6583680" cy="484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sz="1350" b="1">
                <a:solidFill>
                  <a:srgbClr val="EA580C"/>
                </a:solidFill>
                <a:latin typeface="Calibri"/>
              </a:rPr>
              <a:t>ЗАПРОС К АКСЕЛЕРАТОРУ И ЭКОСИСТЕМЕ НТИ:</a:t>
            </a:r>
            <a:endParaRPr/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1. Финансирование (Грант 1 000 000 ₽ «Студенческий стартап» ФСИ):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Закупка сертифицированного оборудования (осциллографы, манометры, адаптеры J2534);
• Аренда облачных GPU-серверов для квантования и дообучения моделей Gemma 4;
• Таргетированный маркетинг и привлечение первых 1 000 платящих B2C-пользователей.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2. Компетенции и отраслевая экспертиза: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Менторское сопровождение экспертов рабочей группы рынка Автонет (Autonet НТИ);
• Юридическая поддержка лицензионных договоров SaaS и патентной защиты РИД.</a:t>
            </a:r>
          </a:p>
          <a:p>
            <a:pPr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3. Нетворкинг и масштабирование пилотирования:</a:t>
            </a:r>
          </a:p>
          <a:p>
            <a:pPr>
              <a:spcAft>
                <a:spcPts val="250"/>
              </a:spcAft>
            </a:pPr>
            <a:r>
              <a:rPr sz="1200">
                <a:solidFill>
                  <a:srgbClr val="1E293B"/>
                </a:solidFill>
                <a:latin typeface="Calibri"/>
              </a:rPr>
              <a:t>• Доступ к партнерской сети автосервисов и корпоративных автопарков акселератора;
• Прямая интеграция по API с каталогами дистрибьюторов автозапчастей (Exist, Emex).</a:t>
            </a:r>
          </a:p>
        </p:txBody>
      </p:sp>
      <p:pic>
        <p:nvPicPr>
          <p:cNvPr id="1460558977" name="object 24"/>
          <p:cNvPicPr/>
          <p:nvPr/>
        </p:nvPicPr>
        <p:blipFill rotWithShape="1">
          <a:blip r:embed="rId5"/>
          <a:stretch/>
        </p:blipFill>
        <p:spPr bwMode="auto">
          <a:xfrm>
            <a:off x="8214487" y="1849136"/>
            <a:ext cx="3977513" cy="4915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155406" name="object 4"/>
          <p:cNvPicPr/>
          <p:nvPr/>
        </p:nvPicPr>
        <p:blipFill rotWithShape="1">
          <a:blip r:embed="rId3"/>
          <a:stretch/>
        </p:blipFill>
        <p:spPr bwMode="auto">
          <a:xfrm>
            <a:off x="5413247" y="3855720"/>
            <a:ext cx="6778752" cy="3002280"/>
          </a:xfrm>
          <a:prstGeom prst="rect">
            <a:avLst/>
          </a:prstGeom>
        </p:spPr>
      </p:pic>
      <p:sp>
        <p:nvSpPr>
          <p:cNvPr id="1607556046" name="object 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1506201" y="6442645"/>
            <a:ext cx="4855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  <a:defRPr/>
            </a:pPr>
            <a:fld id="{81D60167-4931-47E6-BA6A-407CBD079E47}" type="slidenum">
              <a:rPr spc="-50">
                <a:solidFill>
                  <a:srgbClr val="FFFFFF"/>
                </a:solidFill>
              </a:rPr>
              <a:t>16</a:t>
            </a:fld>
            <a:endParaRPr spc="-50">
              <a:solidFill>
                <a:srgbClr val="FFFFFF"/>
              </a:solidFill>
            </a:endParaRPr>
          </a:p>
        </p:txBody>
      </p:sp>
      <p:sp>
        <p:nvSpPr>
          <p:cNvPr id="1190302871" name="Прямоугольник 6"/>
          <p:cNvSpPr/>
          <p:nvPr/>
        </p:nvSpPr>
        <p:spPr bwMode="auto">
          <a:xfrm>
            <a:off x="594360" y="1280160"/>
            <a:ext cx="7132320" cy="484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/>
            </a:pPr>
            <a:r>
              <a:rPr sz="1350" b="1">
                <a:solidFill>
                  <a:srgbClr val="FFFFFF"/>
                </a:solidFill>
                <a:latin typeface="Calibri"/>
              </a:rPr>
              <a:t>ЗАКЛЮЧЕНИЯ ЭКСПЕРТОВ ПЛАТФОРМЫ НТИ (РЕЕСТР ЭКСПЕРТИЗЫ)</a:t>
            </a:r>
            <a:endParaRPr/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1F5F9"/>
                </a:solidFill>
                <a:latin typeface="Calibri"/>
              </a:rPr>
              <a:t>Слайд зарезервирован для внесения отзывов и верификации экспертами ИС «Эксперты НТИ» по 3 ключевым критериям: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D8B4FE"/>
                </a:solidFill>
                <a:latin typeface="Calibri"/>
              </a:rPr>
              <a:t>• Эксперт №1: [ФИО эксперта / Профиль в ИС НТИ]
  </a:t>
            </a:r>
            <a:r>
              <a:rPr sz="1200">
                <a:solidFill>
                  <a:srgbClr val="FFFFFF"/>
                </a:solidFill>
                <a:latin typeface="Calibri"/>
              </a:rPr>
              <a:t>Критерии: Теоретическая реализуемость — подтверждена; Коммерческий потенциал — высокий.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D8B4FE"/>
                </a:solidFill>
                <a:latin typeface="Calibri"/>
              </a:rPr>
              <a:t>• Эксперт №2: [ФИО эксперта / Профиль в ИС НТИ]
  </a:t>
            </a:r>
            <a:r>
              <a:rPr sz="1200">
                <a:solidFill>
                  <a:srgbClr val="FFFFFF"/>
                </a:solidFill>
                <a:latin typeface="Calibri"/>
              </a:rPr>
              <a:t>Критерии: Научно-техническая обоснованность алгоритмов RAG и квантования — подтверждена.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D8B4FE"/>
                </a:solidFill>
                <a:latin typeface="Calibri"/>
              </a:rPr>
              <a:t>• Эксперт №3: [ФИО эксперта / Профиль в ИС НТИ]
  </a:t>
            </a:r>
            <a:r>
              <a:rPr sz="1200">
                <a:solidFill>
                  <a:srgbClr val="FFFFFF"/>
                </a:solidFill>
                <a:latin typeface="Calibri"/>
              </a:rPr>
              <a:t>Критерии: Соответствие приоритетам НТР РФ и технологического суверенитета в автодиагностике.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D8B4FE"/>
                </a:solidFill>
                <a:latin typeface="Calibri"/>
              </a:rPr>
              <a:t>• Эксперт №4: [ФИО эксперта / Профиль в ИС НТИ]
  </a:t>
            </a:r>
            <a:r>
              <a:rPr sz="1200">
                <a:solidFill>
                  <a:srgbClr val="FFFFFF"/>
                </a:solidFill>
                <a:latin typeface="Calibri"/>
              </a:rPr>
              <a:t>Критерии: Оценка востребованности решения в сегменте независимых СТО и авторемонта.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D8B4FE"/>
                </a:solidFill>
                <a:latin typeface="Calibri"/>
              </a:rPr>
              <a:t>• Эксперт №5: [ФИО эксперта / Профиль в ИС НТИ]
  </a:t>
            </a:r>
            <a:r>
              <a:rPr sz="1200">
                <a:solidFill>
                  <a:srgbClr val="FFFFFF"/>
                </a:solidFill>
                <a:latin typeface="Calibri"/>
              </a:rPr>
              <a:t>Критерии: Инвестиционная привлекательность и масштабируемость бизнес-модели.</a:t>
            </a:r>
          </a:p>
        </p:txBody>
      </p:sp>
      <p:sp>
        <p:nvSpPr>
          <p:cNvPr id="526251727" name="Прямоугольник 7"/>
          <p:cNvSpPr/>
          <p:nvPr/>
        </p:nvSpPr>
        <p:spPr bwMode="auto">
          <a:xfrm>
            <a:off x="609600" y="533400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ru-RU" sz="2400" b="1" spc="125">
                <a:solidFill>
                  <a:schemeClr val="bg1"/>
                </a:solidFill>
                <a:latin typeface="Calibri"/>
                <a:cs typeface="Trebuchet MS"/>
              </a:rPr>
              <a:t>ЭКСПЕРТНОЕ ЗАКЛЮЧЕНИЕ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2464</Words>
  <Application>Microsoft Office PowerPoint</Application>
  <PresentationFormat>Широкоэкранный</PresentationFormat>
  <Paragraphs>256</Paragraphs>
  <Slides>16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Microsoft Sans Serif</vt:lpstr>
      <vt:lpstr>Times New Roman</vt:lpstr>
      <vt:lpstr>Trebuchet MS</vt:lpstr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Презентация PowerPoint</vt:lpstr>
      <vt:lpstr>КОНКУРЕНТЫ И АНАЛОГИ</vt:lpstr>
      <vt:lpstr> Анализ массовых мобильных приложений</vt:lpstr>
      <vt:lpstr> Рыночный потенциал конкурентов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Макс Эрденко</cp:lastModifiedBy>
  <cp:revision>10</cp:revision>
  <dcterms:created xsi:type="dcterms:W3CDTF">2026-08-20T14:53:36Z</dcterms:created>
  <dcterms:modified xsi:type="dcterms:W3CDTF">2026-10-22T10:02:59Z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